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885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situation, not the product.</a:t>
            </a:r>
          </a:p>
          <a:p>
            <a:endParaRPr/>
          </a:p>
          <a:p>
            <a:r>
              <a:t>"Every one of us has joined a project we knew nothing about. You spend the first week</a:t>
            </a:r>
          </a:p>
          <a:p>
            <a:r>
              <a:t>just finding files. Byakugan turns that week into a coffee break."</a:t>
            </a:r>
          </a:p>
          <a:p>
            <a:endParaRPr/>
          </a:p>
          <a:p>
            <a:r>
              <a:t>Then the one line: understand any codebase in one command.</a:t>
            </a:r>
          </a:p>
          <a:p>
            <a:endParaRPr/>
          </a:p>
          <a:p>
            <a:r>
              <a:t>Do not explain the architecture yet. Do not mention providers, tokens, or the backend.</a:t>
            </a:r>
          </a:p>
          <a:p>
            <a:r>
              <a:t>That is slide nine and slide eleven, and judges will still be with you.</a:t>
            </a:r>
          </a:p>
          <a:p>
            <a:endParaRPr/>
          </a:p>
          <a:p>
            <a:r>
              <a:t>Say the install line out loud once. It tells them this is real and runnable.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that earns the rest of the pitch. Spend time here.</a:t>
            </a:r>
          </a:p>
          <a:p>
            <a:endParaRPr/>
          </a:p>
          <a:p>
            <a:r>
              <a:t>Land each card as a moment you have actually lived, not a bullet:</a:t>
            </a:r>
          </a:p>
          <a:p>
            <a:endParaRPr/>
          </a:p>
          <a:p>
            <a:r>
              <a:t>- You are guessing. Open the file, read the name, have no idea what it does, move on.</a:t>
            </a:r>
          </a:p>
          <a:p>
            <a:r>
              <a:t>- Asking is awkward. Nobody wants to be the person who keeps asking, so you burn a week.</a:t>
            </a:r>
          </a:p>
          <a:p>
            <a:r>
              <a:t>- Generic answers miss. A chatbot will happily explain a function to you. It will not</a:t>
            </a:r>
          </a:p>
          <a:p>
            <a:r>
              <a:t>  tell you that three other files depend on it.</a:t>
            </a:r>
          </a:p>
          <a:p>
            <a:endParaRPr/>
          </a:p>
          <a:p>
            <a:r>
              <a:t>Then bridge: "we have all done this. It is not a you problem, it is a missing tool."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point of this slide is fairness. We are not saying these tools are bad.</a:t>
            </a:r>
          </a:p>
          <a:p>
            <a:endParaRPr/>
          </a:p>
          <a:p>
            <a:r>
              <a:t>Say plainly: "Search is genuinely great. It finds the file in a second. It just cannot</a:t>
            </a:r>
          </a:p>
          <a:p>
            <a:r>
              <a:t>tell you whether the file matters."</a:t>
            </a:r>
          </a:p>
          <a:p>
            <a:endParaRPr/>
          </a:p>
          <a:p>
            <a:r>
              <a:t>The chatbots line is the one to emphasise, and it sets up our whole answer. They are</a:t>
            </a:r>
          </a:p>
          <a:p>
            <a:r>
              <a:t>fluent and confident, and they are reasoning from what they saw in training, not from</a:t>
            </a:r>
          </a:p>
          <a:p>
            <a:r>
              <a:t>the repository in front of you. On a codebase that is a week old, that is a guess.</a:t>
            </a:r>
          </a:p>
          <a:p>
            <a:endParaRPr/>
          </a:p>
          <a:p>
            <a:r>
              <a:t>Do not go soft here. This is the gap we are filling.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turn. Say the command out loud and pause.</a:t>
            </a:r>
          </a:p>
          <a:p>
            <a:endParaRPr/>
          </a:p>
          <a:p>
            <a:r>
              <a:t>"One command. You get four things back."</a:t>
            </a:r>
          </a:p>
          <a:p>
            <a:endParaRPr/>
          </a:p>
          <a:p>
            <a:r>
              <a:t>Then take the four quickly, one breath each. Do not read the cards. The judges can read.</a:t>
            </a:r>
          </a:p>
          <a:p>
            <a:endParaRPr/>
          </a:p>
          <a:p>
            <a:r>
              <a:t>The strongest one to dwell on is number three, change impact, because it is the one</a:t>
            </a:r>
          </a:p>
          <a:p>
            <a:r>
              <a:t>nobody expects. Nobody has a tool that tells you what breaks before you break it.</a:t>
            </a:r>
          </a:p>
          <a:p>
            <a:endParaRPr/>
          </a:p>
          <a:p>
            <a:r>
              <a:t>The line to land: "and you only do the first one. The other three are instant, because</a:t>
            </a:r>
          </a:p>
          <a:p>
            <a:r>
              <a:t>the understanding is already saved."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only technical idea in the whole deck, and it is worth it because it is the core</a:t>
            </a:r>
          </a:p>
          <a:p>
            <a:r>
              <a:t>idea: we split the work into passes instead of one enormous ask.</a:t>
            </a:r>
          </a:p>
          <a:p>
            <a:endParaRPr/>
          </a:p>
          <a:p>
            <a:r>
              <a:t>If a judge pushes on why, the honest answer is: "we tried the single prompt first. On our</a:t>
            </a:r>
          </a:p>
          <a:p>
            <a:r>
              <a:t>own thirty file project it produced a confident, wrong answer. Splitting it into a survey</a:t>
            </a:r>
          </a:p>
          <a:p>
            <a:r>
              <a:t>pass and then a pass per file fixed it."</a:t>
            </a:r>
          </a:p>
          <a:p>
            <a:endParaRPr/>
          </a:p>
          <a:p>
            <a:r>
              <a:t>Then the closing bar: the first pass is the only one you wait for. Everything after is a</a:t>
            </a:r>
          </a:p>
          <a:p>
            <a:r>
              <a:t>lookup, which is why the chat feels instant.</a:t>
            </a:r>
          </a:p>
          <a:p>
            <a:endParaRPr/>
          </a:p>
          <a:p>
            <a:r>
              <a:t>Keep this to about forty seconds. It is a means, not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read all seven. That is what the slide is for.</a:t>
            </a:r>
          </a:p>
          <a:p>
            <a:endParaRPr/>
          </a:p>
          <a:p>
            <a:r>
              <a:t>Say: "seven commands, but you will only ever type two of them. analyze, then report."</a:t>
            </a:r>
          </a:p>
          <a:p>
            <a:endParaRPr/>
          </a:p>
          <a:p>
            <a:r>
              <a:t>Then point at the two that surprise people:</a:t>
            </a:r>
          </a:p>
          <a:p>
            <a:endParaRPr/>
          </a:p>
          <a:p>
            <a:r>
              <a:t>- explain, because most people assume that is the whole product. It is one of four parts.</a:t>
            </a:r>
          </a:p>
          <a:p>
            <a:r>
              <a:t>- doctor, because it is the one that tells a sceptical judge they can check it themselves</a:t>
            </a:r>
          </a:p>
          <a:p>
            <a:r>
              <a:t>  in a second. That earns credibility for everything else.</a:t>
            </a:r>
          </a:p>
          <a:p>
            <a:endParaRPr/>
          </a:p>
          <a:p>
            <a:r>
              <a:t>If a judge is technical, this is the slide where you can offer to demo. Offer once, do not</a:t>
            </a:r>
          </a:p>
          <a:p>
            <a:r>
              <a:t>push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Slow down. This is the most interesting thing we built and it is easy to miss.</a:t>
            </a:r>
          </a:p>
          <a:p>
            <a:endParaRPr/>
          </a:p>
          <a:p>
            <a:r>
              <a:t>The demo that works: the same file, two different people. The junior gets "this file keeps</a:t>
            </a:r>
          </a:p>
          <a:p>
            <a:r>
              <a:t>a running total of requests and waits when the window is full." The senior gets "that</a:t>
            </a:r>
          </a:p>
          <a:p>
            <a:r>
              <a:t>limit is per running copy, so it resets on deploy, which is wrong the moment you scale."</a:t>
            </a:r>
          </a:p>
          <a:p>
            <a:endParaRPr/>
          </a:p>
          <a:p>
            <a:r>
              <a:t>Same file. Same command. Different answer, because we told it who was asking.</a:t>
            </a:r>
          </a:p>
          <a:p>
            <a:endParaRPr/>
          </a:p>
          <a:p>
            <a:r>
              <a:t>If you only get one live demo all pitch, make it this one. It is the clearest possible</a:t>
            </a:r>
          </a:p>
          <a:p>
            <a:r>
              <a:t>answer to "what is this actually for", and it looks considered rather than clever.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Judges score impact, so give them something they can picture.</a:t>
            </a:r>
          </a:p>
          <a:p>
            <a:endParaRPr/>
          </a:p>
          <a:p>
            <a:r>
              <a:t>Pick the concrete one and give a story, not a metric. We have no user study and we should</a:t>
            </a:r>
          </a:p>
          <a:p>
            <a:r>
              <a:t>not pretend otherwise. Say: "the win is the first afternoon. A new person opens the report,</a:t>
            </a:r>
          </a:p>
          <a:p>
            <a:r>
              <a:t>sees the order to read things in, and makes a real change the same day."</a:t>
            </a:r>
          </a:p>
          <a:p>
            <a:endParaRPr/>
          </a:p>
          <a:p>
            <a:r>
              <a:t>Then the senior line, because it shows the tool has a second audience: "and the person</a:t>
            </a:r>
          </a:p>
          <a:p>
            <a:r>
              <a:t>reviewing their PR gets the honest version, not a simplified one."</a:t>
            </a:r>
          </a:p>
          <a:p>
            <a:endParaRPr/>
          </a:p>
          <a:p>
            <a:r>
              <a:t>If asked for numbers, be straight: we built it in 48 hours and we have not run a proper</a:t>
            </a:r>
          </a:p>
          <a:p>
            <a:r>
              <a:t>trial yet. Honesty here buys more credibility than a made-up percentage.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warm and short. It is a thank you slide, not a technical one.</a:t>
            </a:r>
          </a:p>
          <a:p>
            <a:endParaRPr/>
          </a:p>
          <a:p>
            <a:r>
              <a:t>The honest and impressive framing is that Bob shaped the work rather than that it is</a:t>
            </a:r>
          </a:p>
          <a:p>
            <a:r>
              <a:t>wired into the product. Say it plainly: "Bob is how we planned this, how we built it, and</a:t>
            </a:r>
          </a:p>
          <a:p>
            <a:r>
              <a:t>how we reshaped it when it outgrew the plan. It is the reason there is a demo."</a:t>
            </a:r>
          </a:p>
          <a:p>
            <a:endParaRPr/>
          </a:p>
          <a:p>
            <a:r>
              <a:t>If a judge asks whether Bob is in the running code, answer straight: no, it is not. Do not</a:t>
            </a:r>
          </a:p>
          <a:p>
            <a:r>
              <a:t>imply an integration that is not there. Saying "no, but here is what it did for us" is a</a:t>
            </a:r>
          </a:p>
          <a:p>
            <a:r>
              <a:t>better answer than a vague yes, and judges respect it.</a:t>
            </a:r>
          </a:p>
          <a:p>
            <a:endParaRPr/>
          </a:p>
          <a:p>
            <a:r>
              <a:t>Then move on quickly. Do not linger on the tool you used to build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Judges have heard every project claim it was hard. The way to win this slide is specificity</a:t>
            </a:r>
          </a:p>
          <a:p>
            <a:r>
              <a:t>and ownership.</a:t>
            </a:r>
          </a:p>
          <a:p>
            <a:endParaRPr/>
          </a:p>
          <a:p>
            <a:r>
              <a:t>Own every one. Do not say "the API was limiting us", say "we were asking for too much at</a:t>
            </a:r>
          </a:p>
          <a:p>
            <a:r>
              <a:t>once and it was our job to notice."</a:t>
            </a:r>
          </a:p>
          <a:p>
            <a:endParaRPr/>
          </a:p>
          <a:p>
            <a:r>
              <a:t>If you only have time for two, use one pass and the rate limit. The rate limit one is good</a:t>
            </a:r>
          </a:p>
          <a:p>
            <a:r>
              <a:t>because it shows you adapted the design instead of complaining: we learned to send less,</a:t>
            </a:r>
          </a:p>
          <a:p>
            <a:r>
              <a:t>more carefully, and measure the real size of what we were sending.</a:t>
            </a:r>
          </a:p>
          <a:p>
            <a:endParaRPr/>
          </a:p>
          <a:p>
            <a:r>
              <a:t>The last card is worth saying out loud. Cutting features is a decision, not a failure, and</a:t>
            </a:r>
          </a:p>
          <a:p>
            <a:r>
              <a:t>saying we did it deliberately reads as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Future scope is where you show you know what this is not yet. That reads as honesty and</a:t>
            </a:r>
          </a:p>
          <a:p>
            <a:r>
              <a:t>it stops judges hunting for the obvious gap.</a:t>
            </a:r>
          </a:p>
          <a:p>
            <a:endParaRPr/>
          </a:p>
          <a:p>
            <a:r>
              <a:t>Lead with live in the editor. It is the one everyone in the room wants, and it is the</a:t>
            </a:r>
          </a:p>
          <a:p>
            <a:r>
              <a:t>natural next step from a command line tool.</a:t>
            </a:r>
          </a:p>
          <a:p>
            <a:endParaRPr/>
          </a:p>
          <a:p>
            <a:r>
              <a:t>Then compare two versions. It is the most valuable thing on the list and it reuses</a:t>
            </a:r>
          </a:p>
          <a:p>
            <a:r>
              <a:t>everything we already built, so it is credible rather than fanciful.</a:t>
            </a:r>
          </a:p>
          <a:p>
            <a:endParaRPr/>
          </a:p>
          <a:p>
            <a:r>
              <a:t>Say clearly which one you would build first if you had another weekend. That is the</a:t>
            </a:r>
          </a:p>
          <a:p>
            <a:r>
              <a:t>question behind the question, and having an answer matters more than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Land the closing line and stop talking.</a:t>
            </a:r>
          </a:p>
          <a:p>
            <a:endParaRPr/>
          </a:p>
          <a:p>
            <a:r>
              <a:t>The ask, if a judge asks what you need: "a codebase nobody understands, and thirty</a:t>
            </a:r>
          </a:p>
          <a:p>
            <a:r>
              <a:t>seconds of your attention while it runs." That is a real ask and it is what you want.</a:t>
            </a:r>
          </a:p>
          <a:p>
            <a:endParaRPr/>
          </a:p>
          <a:p>
            <a:r>
              <a:t>Then thank you, and hand over. Do not trail off into architecture after the close.</a:t>
            </a:r>
          </a:p>
          <a:p>
            <a:endParaRPr/>
          </a:p>
          <a:p>
            <a:r>
              <a:t>Keep the install line on screen through questions. It is the only thing they can act on,</a:t>
            </a:r>
          </a:p>
          <a:p>
            <a:r>
              <a:t>and it is the thing that makes them try it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91440" cy="566928"/>
          </a:xfrm>
          <a:prstGeom prst="rect">
            <a:avLst/>
          </a:prstGeom>
          <a:solidFill>
            <a:srgbClr val="C03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E6E8F0"/>
                </a:solidFill>
                <a:latin typeface="Segoe UI"/>
              </a:rPr>
              <a:t>Byakugan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93268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7A1A"/>
                </a:solidFill>
                <a:latin typeface="Segoe UI"/>
              </a:rPr>
              <a:t>Understand any codebase in one command.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10128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0A5"/>
                </a:solidFill>
                <a:latin typeface="Segoe UI"/>
              </a:rPr>
              <a:t>You did not write it. You did not choose it. Byakugan reads the whole codebase and hands back something you can actually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E8F0"/>
                </a:solidFill>
                <a:latin typeface="Segoe UI"/>
              </a:rPr>
              <a:t>Brenda</a:t>
            </a:r>
            <a:r>
              <a:rPr sz="1600" b="0">
                <a:solidFill>
                  <a:srgbClr val="5A6076"/>
                </a:solidFill>
                <a:latin typeface="Segoe UI"/>
              </a:rPr>
              <a:t>  &amp;  </a:t>
            </a:r>
            <a:r>
              <a:rPr sz="1600" b="1">
                <a:solidFill>
                  <a:srgbClr val="E6E8F0"/>
                </a:solidFill>
                <a:latin typeface="Segoe UI"/>
              </a:rPr>
              <a:t>Naran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1947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076"/>
                </a:solidFill>
                <a:latin typeface="Cascadia Code"/>
              </a:rPr>
              <a:t>IBM Bob 2.0 Hackathon   ·   48 hours   ·   MIT licensed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53935" y="4590288"/>
            <a:ext cx="4160520" cy="566928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73392" y="4745736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0A5"/>
                </a:solidFill>
                <a:latin typeface="Cascadia Code"/>
              </a:rPr>
              <a:t>npm install -g </a:t>
            </a:r>
            <a:r>
              <a:rPr sz="1300" b="1">
                <a:solidFill>
                  <a:srgbClr val="FF7A1A"/>
                </a:solidFill>
                <a:latin typeface="Cascadia Code"/>
              </a:rPr>
              <a:t>byakugan-macgpt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6E8F0"/>
                </a:solidFill>
                <a:latin typeface="Segoe UI"/>
              </a:rPr>
              <a:t>The first week is silent.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0A5"/>
                </a:solidFill>
                <a:latin typeface="Segoe UI"/>
              </a:rPr>
              <a:t>Nobody ever explains the codebase. You open file after file, guess at the names, and slowly piece together something that was never written 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017520"/>
            <a:ext cx="3411626" cy="251460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3017520"/>
            <a:ext cx="3411626" cy="41148"/>
          </a:xfrm>
          <a:prstGeom prst="rect">
            <a:avLst/>
          </a:prstGeom>
          <a:solidFill>
            <a:srgbClr val="C03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4" y="3346704"/>
            <a:ext cx="293613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8F0"/>
                </a:solidFill>
                <a:latin typeface="Segoe UI"/>
              </a:rPr>
              <a:t>You are guessing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3913632"/>
            <a:ext cx="293613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0A5"/>
                </a:solidFill>
                <a:latin typeface="Segoe UI"/>
              </a:rPr>
              <a:t>The names are abbreviated and the important logic is in three folders nobody volunteers to explain.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0034" y="3017520"/>
            <a:ext cx="3411626" cy="251460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90034" y="3017520"/>
            <a:ext cx="3411626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7778" y="3346704"/>
            <a:ext cx="293613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8F0"/>
                </a:solidFill>
                <a:latin typeface="Segoe UI"/>
              </a:rPr>
              <a:t>Asking is awkward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913632"/>
            <a:ext cx="293613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0A5"/>
                </a:solidFill>
                <a:latin typeface="Segoe UI"/>
              </a:rPr>
              <a:t>The one person who knows is busy. So you keep guessing rather than keep interrupting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2828" y="3017520"/>
            <a:ext cx="3411626" cy="251460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2828" y="3017520"/>
            <a:ext cx="3411626" cy="4114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0572" y="3346704"/>
            <a:ext cx="293613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8F0"/>
                </a:solidFill>
                <a:latin typeface="Segoe UI"/>
              </a:rPr>
              <a:t>Generic answers miss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0572" y="3913632"/>
            <a:ext cx="293613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0A5"/>
                </a:solidFill>
                <a:latin typeface="Segoe UI"/>
              </a:rPr>
              <a:t>Explaining one file alone ignores the other twenty-nine. You already know how to read a function.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272784"/>
            <a:ext cx="310896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Byakugan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WHY THE USUAL TOOLS DON'T FIX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6E8F0"/>
                </a:solidFill>
                <a:latin typeface="Segoe UI"/>
              </a:rPr>
              <a:t>They answer a different question.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0A5"/>
                </a:solidFill>
                <a:latin typeface="Segoe UI"/>
              </a:rPr>
              <a:t>The tools we already have are good at their jobs. They just do not answer the one question you have on day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24912"/>
            <a:ext cx="10637215" cy="7315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724912"/>
            <a:ext cx="41148" cy="731520"/>
          </a:xfrm>
          <a:prstGeom prst="rect">
            <a:avLst/>
          </a:prstGeom>
          <a:solidFill>
            <a:srgbClr val="5A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6E8F0"/>
                </a:solidFill>
                <a:latin typeface="Segoe UI"/>
              </a:rPr>
              <a:t>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980944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0A5"/>
                </a:solidFill>
                <a:latin typeface="Segoe UI"/>
              </a:rPr>
              <a:t>Finds files and symbols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980944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0A5"/>
                </a:solidFill>
                <a:latin typeface="Segoe UI"/>
              </a:rPr>
              <a:t>Never tells you why the code exists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84448"/>
            <a:ext cx="10637215" cy="7315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584448"/>
            <a:ext cx="41148" cy="731520"/>
          </a:xfrm>
          <a:prstGeom prst="rect">
            <a:avLst/>
          </a:prstGeom>
          <a:solidFill>
            <a:srgbClr val="C03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831336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6E8F0"/>
                </a:solidFill>
                <a:latin typeface="Segoe UI"/>
              </a:rPr>
              <a:t>Chatbots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80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0A5"/>
                </a:solidFill>
                <a:latin typeface="Segoe UI"/>
              </a:rPr>
              <a:t>Answer anything, instantly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84048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0396B"/>
                </a:solidFill>
                <a:latin typeface="Segoe UI"/>
              </a:rPr>
              <a:t>They answer from memory, not from your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43984"/>
            <a:ext cx="10637215" cy="7315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443984"/>
            <a:ext cx="41148" cy="731520"/>
          </a:xfrm>
          <a:prstGeom prst="rect">
            <a:avLst/>
          </a:prstGeom>
          <a:solidFill>
            <a:srgbClr val="5A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69087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6E8F0"/>
                </a:solidFill>
                <a:latin typeface="Segoe UI"/>
              </a:rPr>
              <a:t>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700016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0A5"/>
                </a:solidFill>
                <a:latin typeface="Segoe UI"/>
              </a:rPr>
              <a:t>Explains what the features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70001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0A5"/>
                </a:solidFill>
                <a:latin typeface="Segoe UI"/>
              </a:rPr>
              <a:t>Written for users, and often out of 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03520"/>
            <a:ext cx="10637215" cy="7315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5303520"/>
            <a:ext cx="41148" cy="7315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55040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6E8F0"/>
                </a:solidFill>
                <a:latin typeface="Segoe UI"/>
              </a:rPr>
              <a:t>Code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559552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0A5"/>
                </a:solidFill>
                <a:latin typeface="Segoe UI"/>
              </a:rPr>
              <a:t>Catches real problems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555955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DE80"/>
                </a:solidFill>
                <a:latin typeface="Segoe UI"/>
              </a:rPr>
              <a:t>Only after you have already written the 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6272784"/>
            <a:ext cx="310896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Byakugan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6E8F0"/>
                </a:solidFill>
                <a:latin typeface="Segoe UI"/>
              </a:rPr>
              <a:t>One command. Four things 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487168"/>
            <a:ext cx="10637215" cy="713232"/>
          </a:xfrm>
          <a:prstGeom prst="roundRect">
            <a:avLst>
              <a:gd name="adj" fmla="val 6000"/>
            </a:avLst>
          </a:prstGeom>
          <a:solidFill>
            <a:srgbClr val="181B28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" y="2706624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DE80"/>
                </a:solidFill>
                <a:latin typeface="Cascadia Code"/>
              </a:rPr>
              <a:t>&gt; </a:t>
            </a:r>
            <a:r>
              <a:rPr sz="1500" b="1">
                <a:solidFill>
                  <a:srgbClr val="E6E8F0"/>
                </a:solidFill>
                <a:latin typeface="Cascadia Code"/>
              </a:rPr>
              <a:t>byakugan analyze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8215" y="2734056"/>
            <a:ext cx="389534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076"/>
                </a:solidFill>
                <a:latin typeface="Cascadia Code"/>
              </a:rPr>
              <a:t>no setup, no API key, no config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56432"/>
            <a:ext cx="5154015" cy="1225296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" y="3657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7A1A"/>
                </a:solidFill>
                <a:latin typeface="Cascadia Cod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639312"/>
            <a:ext cx="418475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6E8F0"/>
                </a:solidFill>
                <a:latin typeface="Segoe UI"/>
              </a:rPr>
              <a:t>A report worth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005072"/>
            <a:ext cx="4184751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0A5"/>
                </a:solidFill>
                <a:latin typeface="Segoe UI"/>
              </a:rPr>
              <a:t>Project overview, file map, risky spots, and what to look at first. One page, opens in a browser, works offline.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0439" y="3456432"/>
            <a:ext cx="5154015" cy="1225296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8183" y="3657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7A1A"/>
                </a:solidFill>
                <a:latin typeface="Cascadia Cod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959" y="3639312"/>
            <a:ext cx="418475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6E8F0"/>
                </a:solidFill>
                <a:latin typeface="Segoe UI"/>
              </a:rPr>
              <a:t>Any file, in plain English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1959" y="4005072"/>
            <a:ext cx="4184751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0A5"/>
                </a:solidFill>
                <a:latin typeface="Segoe UI"/>
              </a:rPr>
              <a:t>What it is for, what it depends on, why it exists, without reading all of it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46320"/>
            <a:ext cx="5154015" cy="1225296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4984" y="5047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7A1A"/>
                </a:solidFill>
                <a:latin typeface="Cascadia Cod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029200"/>
            <a:ext cx="418475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6E8F0"/>
                </a:solidFill>
                <a:latin typeface="Segoe UI"/>
              </a:rPr>
              <a:t>Know what breaks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394960"/>
            <a:ext cx="4184751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0A5"/>
                </a:solidFill>
                <a:latin typeface="Segoe UI"/>
              </a:rPr>
              <a:t>Point at a file before you change it and see everything that depends on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0439" y="4846320"/>
            <a:ext cx="5154015" cy="1225296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8183" y="5047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7A1A"/>
                </a:solidFill>
                <a:latin typeface="Cascadia Code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1959" y="5029200"/>
            <a:ext cx="418475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6E8F0"/>
                </a:solidFill>
                <a:latin typeface="Segoe UI"/>
              </a:rPr>
              <a:t>Ask questions like a person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1959" y="5394960"/>
            <a:ext cx="4184751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0A5"/>
                </a:solidFill>
                <a:latin typeface="Segoe UI"/>
              </a:rPr>
              <a:t>"Where is auth handled?" answered from your code, not from memory. Follow-ups keep the context.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272784"/>
            <a:ext cx="310896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Byakugan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6E8F0"/>
                </a:solidFill>
                <a:latin typeface="Segoe UI"/>
              </a:rPr>
              <a:t>Four passes, because one pass is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0A5"/>
                </a:solidFill>
                <a:latin typeface="Segoe UI"/>
              </a:rPr>
              <a:t>Ask a model to describe a whole repository in one go and you get confident nonsense. So we do not do that.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52928"/>
            <a:ext cx="2453563" cy="1783080"/>
          </a:xfrm>
          <a:prstGeom prst="roundRect">
            <a:avLst>
              <a:gd name="adj" fmla="val 6000"/>
            </a:avLst>
          </a:prstGeom>
          <a:solidFill>
            <a:srgbClr val="181B28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852928"/>
            <a:ext cx="2453563" cy="36576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31272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076"/>
                </a:solidFill>
                <a:latin typeface="Cascadia Cod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456432"/>
            <a:ext cx="205122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8F0"/>
                </a:solidFill>
                <a:latin typeface="Segoe UI"/>
              </a:rPr>
              <a:t>You point at a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4041648"/>
            <a:ext cx="2051227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0A5"/>
                </a:solidFill>
                <a:latin typeface="Segoe UI"/>
              </a:rPr>
              <a:t>That is the entire setup.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76523" y="3739896"/>
            <a:ext cx="182880" cy="0"/>
          </a:xfrm>
          <a:prstGeom prst="line">
            <a:avLst/>
          </a:prstGeom>
          <a:ln w="15875">
            <a:solidFill>
              <a:srgbClr val="5A60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05123" y="2852928"/>
            <a:ext cx="2453563" cy="1783080"/>
          </a:xfrm>
          <a:prstGeom prst="roundRect">
            <a:avLst>
              <a:gd name="adj" fmla="val 6000"/>
            </a:avLst>
          </a:prstGeom>
          <a:solidFill>
            <a:srgbClr val="181B28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5123" y="2852928"/>
            <a:ext cx="2453563" cy="36576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6291" y="31272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076"/>
                </a:solidFill>
                <a:latin typeface="Cascadia Cod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6291" y="3456432"/>
            <a:ext cx="205122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8F0"/>
                </a:solidFill>
                <a:latin typeface="Segoe UI"/>
              </a:rPr>
              <a:t>It reads the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6291" y="4041648"/>
            <a:ext cx="2051227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0A5"/>
                </a:solidFill>
                <a:latin typeface="Segoe UI"/>
              </a:rPr>
              <a:t>Skips junk, keeps the good parts of huge files.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04406" y="3739896"/>
            <a:ext cx="182880" cy="0"/>
          </a:xfrm>
          <a:prstGeom prst="line">
            <a:avLst/>
          </a:prstGeom>
          <a:ln w="15875">
            <a:solidFill>
              <a:srgbClr val="5A60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33006" y="2852928"/>
            <a:ext cx="2453563" cy="1783080"/>
          </a:xfrm>
          <a:prstGeom prst="roundRect">
            <a:avLst>
              <a:gd name="adj" fmla="val 6000"/>
            </a:avLst>
          </a:prstGeom>
          <a:solidFill>
            <a:srgbClr val="181B28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006" y="2852928"/>
            <a:ext cx="2453563" cy="36576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4174" y="31272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076"/>
                </a:solidFill>
                <a:latin typeface="Cascadia Cod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4174" y="3456432"/>
            <a:ext cx="205122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8F0"/>
                </a:solidFill>
                <a:latin typeface="Segoe UI"/>
              </a:rPr>
              <a:t>It works out the shape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4174" y="4041648"/>
            <a:ext cx="2051227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0A5"/>
                </a:solidFill>
                <a:latin typeface="Segoe UI"/>
              </a:rPr>
              <a:t>What depends on what, and what is risky.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32289" y="3739896"/>
            <a:ext cx="182880" cy="0"/>
          </a:xfrm>
          <a:prstGeom prst="line">
            <a:avLst/>
          </a:prstGeom>
          <a:ln w="15875">
            <a:solidFill>
              <a:srgbClr val="5A60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60889" y="2852928"/>
            <a:ext cx="2453563" cy="1783080"/>
          </a:xfrm>
          <a:prstGeom prst="roundRect">
            <a:avLst>
              <a:gd name="adj" fmla="val 6000"/>
            </a:avLst>
          </a:prstGeom>
          <a:solidFill>
            <a:srgbClr val="181B28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0889" y="2852928"/>
            <a:ext cx="2453563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62057" y="31272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076"/>
                </a:solidFill>
                <a:latin typeface="Cascadia Cod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057" y="3456432"/>
            <a:ext cx="205122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8F0"/>
                </a:solidFill>
                <a:latin typeface="Segoe UI"/>
              </a:rPr>
              <a:t>It saves the understanding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057" y="4041648"/>
            <a:ext cx="2051227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0A5"/>
                </a:solidFill>
                <a:latin typeface="Segoe UI"/>
              </a:rPr>
              <a:t>Everything later reads from this one result.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901184"/>
            <a:ext cx="10637215" cy="7315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88136" y="5102352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8F0"/>
                </a:solidFill>
                <a:latin typeface="Segoe UI"/>
              </a:rPr>
              <a:t>You do the first one. </a:t>
            </a:r>
            <a:r>
              <a:rPr sz="1350" b="0">
                <a:solidFill>
                  <a:srgbClr val="8B90A5"/>
                </a:solidFill>
                <a:latin typeface="Segoe UI"/>
              </a:rPr>
              <a:t>The other three happen once, and then every question after that is instant.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272784"/>
            <a:ext cx="310896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Byakugan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6E8F0"/>
                </a:solidFill>
                <a:latin typeface="Segoe UI"/>
              </a:rPr>
              <a:t>Seven commands, all reading one saved result.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615184"/>
            <a:ext cx="5154015" cy="7315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4984" y="2752344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7A1A"/>
                </a:solidFill>
                <a:latin typeface="Cascadia Code"/>
              </a:rPr>
              <a:t>byakugan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" y="3026664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0A5"/>
                </a:solidFill>
                <a:latin typeface="Segoe UI"/>
              </a:rPr>
              <a:t>Five questions. Saves what you know and your goal.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74720"/>
            <a:ext cx="5154015" cy="7315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" y="3611880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7A1A"/>
                </a:solidFill>
                <a:latin typeface="Cascadia Code"/>
              </a:rPr>
              <a:t>byakugan 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3886200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0A5"/>
                </a:solidFill>
                <a:latin typeface="Segoe UI"/>
              </a:rPr>
              <a:t>The main event. Reads the project, learns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34256"/>
            <a:ext cx="5154015" cy="7315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4471416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7A1A"/>
                </a:solidFill>
                <a:latin typeface="Cascadia Code"/>
              </a:rPr>
              <a:t>byakugan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4745736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0A5"/>
                </a:solidFill>
                <a:latin typeface="Segoe UI"/>
              </a:rPr>
              <a:t>The interactive report. Opens in a browser.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193792"/>
            <a:ext cx="5154015" cy="7315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4984" y="5330952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7A1A"/>
                </a:solidFill>
                <a:latin typeface="Cascadia Code"/>
              </a:rPr>
              <a:t>byakugan 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5605272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0A5"/>
                </a:solidFill>
                <a:latin typeface="Segoe UI"/>
              </a:rPr>
              <a:t>One file in plain English, at your level.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0439" y="2615184"/>
            <a:ext cx="5154015" cy="7315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8183" y="2752344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7A1A"/>
                </a:solidFill>
                <a:latin typeface="Cascadia Code"/>
              </a:rPr>
              <a:t>byakugan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026664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0A5"/>
                </a:solidFill>
                <a:latin typeface="Segoe UI"/>
              </a:rPr>
              <a:t>What breaks downstream if you change this.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0439" y="3474720"/>
            <a:ext cx="5154015" cy="7315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8183" y="3611880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7A1A"/>
                </a:solidFill>
                <a:latin typeface="Cascadia Code"/>
              </a:rPr>
              <a:t>byakugan 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8183" y="3886200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0A5"/>
                </a:solidFill>
                <a:latin typeface="Segoe UI"/>
              </a:rPr>
              <a:t>Answered from your code, not from memory.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0439" y="4334256"/>
            <a:ext cx="5154015" cy="7315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8183" y="4471416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7A1A"/>
                </a:solidFill>
                <a:latin typeface="Cascadia Code"/>
              </a:rPr>
              <a:t>byakugan doctor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4745736"/>
            <a:ext cx="467852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0A5"/>
                </a:solidFill>
                <a:latin typeface="Segoe UI"/>
              </a:rPr>
              <a:t>One second to confirm everything works.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0439" y="5193792"/>
            <a:ext cx="5154015" cy="731520"/>
          </a:xfrm>
          <a:prstGeom prst="roundRect">
            <a:avLst>
              <a:gd name="adj" fmla="val 6000"/>
            </a:avLst>
          </a:prstGeom>
          <a:solidFill>
            <a:srgbClr val="181B28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8183" y="5376672"/>
            <a:ext cx="4678527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E8F0"/>
                </a:solidFill>
                <a:latin typeface="Segoe UI"/>
              </a:rPr>
              <a:t>One analysis. </a:t>
            </a:r>
            <a:r>
              <a:rPr sz="1200" b="0">
                <a:solidFill>
                  <a:srgbClr val="8B90A5"/>
                </a:solidFill>
                <a:latin typeface="Segoe UI"/>
              </a:rPr>
              <a:t>Nothing is worked out twice, so nothing costs you twice.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272784"/>
            <a:ext cx="310896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Byakugan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THE BIT THAT SURPRISED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6E8F0"/>
                </a:solidFill>
                <a:latin typeface="Segoe UI"/>
              </a:rPr>
              <a:t>It explains it your way, not one fixed 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0A5"/>
                </a:solidFill>
                <a:latin typeface="Segoe UI"/>
              </a:rPr>
              <a:t>You say how much you know and what you are trying to do. Everything after that is pitched to match. Nobody hand-writes two versions of anything.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34640"/>
            <a:ext cx="5154015" cy="265176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834640"/>
            <a:ext cx="5154015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3090672"/>
            <a:ext cx="46419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ADE80"/>
                </a:solidFill>
                <a:latin typeface="Cascadia Code"/>
              </a:rPr>
              <a:t>NEW TO THE CODEBASE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3401568"/>
            <a:ext cx="464195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6E8F0"/>
                </a:solidFill>
                <a:latin typeface="Segoe UI"/>
              </a:rPr>
              <a:t>Learning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803904"/>
            <a:ext cx="4641951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Concepts before implementation, jargon defined, and a sensible order to read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2" y="4498848"/>
            <a:ext cx="4641951" cy="841248"/>
          </a:xfrm>
          <a:prstGeom prst="roundRect">
            <a:avLst>
              <a:gd name="adj" fmla="val 6000"/>
            </a:avLst>
          </a:prstGeom>
          <a:solidFill>
            <a:srgbClr val="0A0B12"/>
          </a:solidFill>
          <a:ln w="12700">
            <a:solidFill>
              <a:srgbClr val="1C2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9576" y="4626864"/>
            <a:ext cx="4349343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0A5"/>
                </a:solidFill>
                <a:latin typeface="Cascadia Code"/>
              </a:rPr>
              <a:t>billing.js keeps a running total of requests per window. when the window fills up it waits for it to clear.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0439" y="2834640"/>
            <a:ext cx="5154015" cy="265176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0439" y="2834640"/>
            <a:ext cx="5154015" cy="36576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6471" y="3090672"/>
            <a:ext cx="46419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JOINING TO CHANGE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471" y="3401568"/>
            <a:ext cx="464195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6E8F0"/>
                </a:solidFill>
                <a:latin typeface="Segoe UI"/>
              </a:rPr>
              <a:t>Reviewing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471" y="3803904"/>
            <a:ext cx="4641951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Skips the tutorial. Tradeoffs, edge cases, and the bit that surprises you later.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6471" y="4498848"/>
            <a:ext cx="4641951" cy="841248"/>
          </a:xfrm>
          <a:prstGeom prst="roundRect">
            <a:avLst>
              <a:gd name="adj" fmla="val 6000"/>
            </a:avLst>
          </a:prstGeom>
          <a:solidFill>
            <a:srgbClr val="0A0B12"/>
          </a:solidFill>
          <a:ln w="12700">
            <a:solidFill>
              <a:srgbClr val="1C2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62775" y="4626864"/>
            <a:ext cx="4349343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0A5"/>
                </a:solidFill>
                <a:latin typeface="Cascadia Code"/>
              </a:rPr>
              <a:t>that limit is per running copy, so it resets on deploy. fine on one box, wrong the moment you scale to two.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272784"/>
            <a:ext cx="310896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Byakugan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THE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6E8F0"/>
                </a:solidFill>
                <a:latin typeface="Segoe UI"/>
              </a:rPr>
              <a:t>Your first day becomes your first coffee break.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75104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8B90A5"/>
                </a:solidFill>
                <a:latin typeface="Segoe UI"/>
              </a:rPr>
              <a:t>The goal was never to write code for you. It is to get you from "I have no idea where to start" to making a real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054096"/>
            <a:ext cx="3411626" cy="214884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3054096"/>
            <a:ext cx="3411626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4" y="3383280"/>
            <a:ext cx="293613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E6E8F0"/>
                </a:solidFill>
                <a:latin typeface="Segoe UI"/>
              </a:rPr>
              <a:t>Stop reading at random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3968496"/>
            <a:ext cx="293613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You get an order to read things in, so you stop opening files hoping one of them matters.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0034" y="3054096"/>
            <a:ext cx="3411626" cy="214884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90034" y="3054096"/>
            <a:ext cx="3411626" cy="4114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7778" y="3383280"/>
            <a:ext cx="293613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E6E8F0"/>
                </a:solidFill>
                <a:latin typeface="Segoe UI"/>
              </a:rPr>
              <a:t>Ask without awkwardness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968496"/>
            <a:ext cx="293613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The person who knows the codebase is not interrupted, and you are not quietly guessing for a week.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2828" y="3054096"/>
            <a:ext cx="3411626" cy="214884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2828" y="3054096"/>
            <a:ext cx="3411626" cy="41148"/>
          </a:xfrm>
          <a:prstGeom prst="rect">
            <a:avLst/>
          </a:prstGeom>
          <a:solidFill>
            <a:srgbClr val="C03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0572" y="3383280"/>
            <a:ext cx="293613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E6E8F0"/>
                </a:solidFill>
                <a:latin typeface="Segoe UI"/>
              </a:rPr>
              <a:t>Change things more safely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0572" y="3968496"/>
            <a:ext cx="293613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See what depends on a file before you touch it, not after something falls over.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04688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076"/>
                </a:solidFill>
                <a:latin typeface="Segoe UI"/>
              </a:rPr>
              <a:t>The same tool gets a first-week developer moving on day one and a senior reviewing on day two.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272784"/>
            <a:ext cx="310896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Byakugan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THE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6E8F0"/>
                </a:solidFill>
                <a:latin typeface="Segoe UI"/>
              </a:rPr>
              <a:t>Built with IBM Bob, 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0A5"/>
                </a:solidFill>
                <a:latin typeface="Segoe UI"/>
              </a:rPr>
              <a:t>Byakugan was built during the IBM Bob 2.0 Hackathon. Bob is the reason we got to a working demo at 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017520"/>
            <a:ext cx="3411626" cy="21031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3017520"/>
            <a:ext cx="3411626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4" y="3346704"/>
            <a:ext cx="293613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3712463"/>
            <a:ext cx="2936138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We had a very large idea and 48 hours. Bob helped us break it into a build order we could actually finish.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0034" y="3017520"/>
            <a:ext cx="3411626" cy="21031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90034" y="3017520"/>
            <a:ext cx="3411626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7778" y="3346704"/>
            <a:ext cx="293613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712463"/>
            <a:ext cx="2936138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Bob sat in the loop while we wrote the scanner and the pipeline, catching what would not work before we lost a night to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2828" y="3017520"/>
            <a:ext cx="3411626" cy="210312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2828" y="3017520"/>
            <a:ext cx="3411626" cy="41148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0572" y="3346704"/>
            <a:ext cx="293613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FINISHING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0572" y="3712463"/>
            <a:ext cx="2936138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When the project outgrew the original plan, Bob helped us rework it into the shape that shipped.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358384"/>
            <a:ext cx="10637215" cy="603504"/>
          </a:xfrm>
          <a:prstGeom prst="roundRect">
            <a:avLst>
              <a:gd name="adj" fmla="val 6000"/>
            </a:avLst>
          </a:prstGeom>
          <a:solidFill>
            <a:srgbClr val="181B28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" y="554126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B90A5"/>
                </a:solidFill>
                <a:latin typeface="Segoe UI"/>
              </a:rPr>
              <a:t>Two developers, one weekend, </a:t>
            </a:r>
            <a:r>
              <a:rPr sz="1350" b="1">
                <a:solidFill>
                  <a:srgbClr val="E6E8F0"/>
                </a:solidFill>
                <a:latin typeface="Segoe UI"/>
              </a:rPr>
              <a:t>and a tool we now use on codebases we did not write.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272784"/>
            <a:ext cx="310896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Byakugan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6E8F0"/>
                </a:solidFill>
                <a:latin typeface="Segoe UI"/>
              </a:rPr>
              <a:t>Four things that broke on the 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0A5"/>
                </a:solidFill>
                <a:latin typeface="Segoe UI"/>
              </a:rPr>
              <a:t>All four were ours to solve, not something we blamed on the technology. That is the honest version.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980944"/>
            <a:ext cx="5154015" cy="128016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980944"/>
            <a:ext cx="41148" cy="128016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3182112"/>
            <a:ext cx="464195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8F0"/>
                </a:solidFill>
                <a:latin typeface="Segoe UI"/>
              </a:rPr>
              <a:t>One pass was not enough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3529584"/>
            <a:ext cx="4641951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0A5"/>
                </a:solidFill>
                <a:latin typeface="Segoe UI"/>
              </a:rPr>
              <a:t>Asking for a whole codebase in a single request gave us fluent, confident, wrong answers. We split it into passes.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0439" y="2980944"/>
            <a:ext cx="5154015" cy="128016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0439" y="2980944"/>
            <a:ext cx="41148" cy="12801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6471" y="3182112"/>
            <a:ext cx="464195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8F0"/>
                </a:solidFill>
                <a:latin typeface="Segoe UI"/>
              </a:rPr>
              <a:t>We kept hitting a rate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471" y="3529584"/>
            <a:ext cx="4641951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0A5"/>
                </a:solidFill>
                <a:latin typeface="Segoe UI"/>
              </a:rPr>
              <a:t>The free tier caps how much you can ask per minute. We had to get far more careful about how much we asked at once.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425696"/>
            <a:ext cx="5154015" cy="128016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4425696"/>
            <a:ext cx="41148" cy="1280160"/>
          </a:xfrm>
          <a:prstGeom prst="rect">
            <a:avLst/>
          </a:prstGeom>
          <a:solidFill>
            <a:srgbClr val="C03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" y="4626864"/>
            <a:ext cx="464195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8F0"/>
                </a:solidFill>
                <a:latin typeface="Segoe UI"/>
              </a:rPr>
              <a:t>Answers were cut off mid sentence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974336"/>
            <a:ext cx="4641951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0A5"/>
                </a:solidFill>
                <a:latin typeface="Segoe UI"/>
              </a:rPr>
              <a:t>Long replies stopped early. Fixed by asking for less per call and streaming the rest as it arrived.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4425696"/>
            <a:ext cx="5154015" cy="1280160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0439" y="4425696"/>
            <a:ext cx="41148" cy="12801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6471" y="4626864"/>
            <a:ext cx="464195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8F0"/>
                </a:solidFill>
                <a:latin typeface="Segoe UI"/>
              </a:rPr>
              <a:t>48 hours is genuinely 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471" y="4974336"/>
            <a:ext cx="4641951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0A5"/>
                </a:solidFill>
                <a:latin typeface="Segoe UI"/>
              </a:rPr>
              <a:t>We cut whole features rather than ship something half working. The core does one thing properly.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272784"/>
            <a:ext cx="310896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Byakugan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7A1A"/>
                </a:solidFill>
                <a:latin typeface="Cascadia Code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6E8F0"/>
                </a:solidFill>
                <a:latin typeface="Segoe UI"/>
              </a:rPr>
              <a:t>Where this goes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0A5"/>
                </a:solidFill>
                <a:latin typeface="Segoe UI"/>
              </a:rPr>
              <a:t>We built the part that makes the rest possible. These are the parts we want to add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88336"/>
            <a:ext cx="10637215" cy="603504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87121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076"/>
                </a:solidFill>
                <a:latin typeface="Cascadia Cod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3624" y="286207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8F0"/>
                </a:solidFill>
                <a:latin typeface="Segoe UI"/>
              </a:rPr>
              <a:t>Live in the editor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8803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Understand a file as you open it, without running a command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01568"/>
            <a:ext cx="10637215" cy="603504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5844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076"/>
                </a:solidFill>
                <a:latin typeface="Cascadia Cod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3624" y="35753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8F0"/>
                </a:solidFill>
                <a:latin typeface="Segoe UI"/>
              </a:rPr>
              <a:t>Compare two versions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5935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What changed between two branches, and what that change breaks.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14800"/>
            <a:ext cx="10637215" cy="603504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29768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076"/>
                </a:solidFill>
                <a:latin typeface="Cascadia Cod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428853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8F0"/>
                </a:solidFill>
                <a:latin typeface="Segoe UI"/>
              </a:rPr>
              <a:t>Keep it up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30682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Re-analyse only what changed, so the report never goes stale.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28032"/>
            <a:ext cx="10637215" cy="603504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0109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076"/>
                </a:solidFill>
                <a:latin typeface="Cascadia Code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3624" y="50017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8F0"/>
                </a:solidFill>
                <a:latin typeface="Segoe UI"/>
              </a:rPr>
              <a:t>Team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02005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Share one understanding of a codebase across the whole team.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541264"/>
            <a:ext cx="10637215" cy="603504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7241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076"/>
                </a:solidFill>
                <a:latin typeface="Cascadia Code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3624" y="57150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8F0"/>
                </a:solidFill>
                <a:latin typeface="Segoe UI"/>
              </a:rPr>
              <a:t>More languages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7332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Broaden beyond what we support today.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6272784"/>
            <a:ext cx="310896" cy="3200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Byakugan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076"/>
                </a:solidFill>
                <a:latin typeface="Cascadia Code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E6E8F0"/>
                </a:solidFill>
                <a:latin typeface="Segoe U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556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7A1A"/>
                </a:solidFill>
                <a:latin typeface="Segoe UI"/>
              </a:rPr>
              <a:t>Understand any codebase in one command.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542032"/>
            <a:ext cx="4892040" cy="1874519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542032"/>
            <a:ext cx="4892040" cy="36576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7980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E6E8F0"/>
                </a:solidFill>
                <a:latin typeface="Segoe UI"/>
              </a:rPr>
              <a:t>Enow </a:t>
            </a:r>
            <a:r>
              <a:rPr lang="en-US" sz="2000" b="1" dirty="0" err="1">
                <a:solidFill>
                  <a:srgbClr val="E6E8F0"/>
                </a:solidFill>
                <a:latin typeface="Segoe UI"/>
              </a:rPr>
              <a:t>Eweh</a:t>
            </a:r>
            <a:r>
              <a:rPr lang="en-US" sz="2000" b="1" dirty="0">
                <a:solidFill>
                  <a:srgbClr val="E6E8F0"/>
                </a:solidFill>
                <a:latin typeface="Segoe UI"/>
              </a:rPr>
              <a:t> Mac Brenda</a:t>
            </a:r>
            <a:endParaRPr sz="2000" b="1" dirty="0">
              <a:solidFill>
                <a:srgbClr val="E6E8F0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3182112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FF7A1A"/>
                </a:solidFill>
                <a:latin typeface="Cascadia Code"/>
              </a:rPr>
              <a:t>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29584"/>
            <a:ext cx="43434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The CLI, the scanning, the pipeline, and how it all fits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542032"/>
            <a:ext cx="4892040" cy="1874519"/>
          </a:xfrm>
          <a:prstGeom prst="roundRect">
            <a:avLst>
              <a:gd name="adj" fmla="val 6000"/>
            </a:avLst>
          </a:prstGeom>
          <a:solidFill>
            <a:srgbClr val="12141F"/>
          </a:solidFill>
          <a:ln w="12700">
            <a:solidFill>
              <a:srgbClr val="25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2542032"/>
            <a:ext cx="4892040" cy="365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7980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E6E8F0"/>
                </a:solidFill>
                <a:latin typeface="Segoe UI"/>
              </a:rPr>
              <a:t>Nara</a:t>
            </a:r>
            <a:r>
              <a:rPr lang="en-US" sz="2000" b="1" dirty="0">
                <a:solidFill>
                  <a:srgbClr val="E6E8F0"/>
                </a:solidFill>
                <a:latin typeface="Segoe UI"/>
              </a:rPr>
              <a:t>yan Pathak</a:t>
            </a:r>
            <a:endParaRPr sz="2000" b="1" dirty="0">
              <a:solidFill>
                <a:srgbClr val="E6E8F0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3182112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ADE80"/>
                </a:solidFill>
                <a:latin typeface="Cascadia Code"/>
              </a:rPr>
              <a:t>PROMPTS &amp;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29584"/>
            <a:ext cx="43434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0A5"/>
                </a:solidFill>
                <a:latin typeface="Segoe UI"/>
              </a:rPr>
              <a:t>Every prompt, the report you look at, and all the visuals.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773168"/>
            <a:ext cx="10637215" cy="731520"/>
          </a:xfrm>
          <a:prstGeom prst="roundRect">
            <a:avLst>
              <a:gd name="adj" fmla="val 6000"/>
            </a:avLst>
          </a:prstGeom>
          <a:solidFill>
            <a:srgbClr val="181B28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" y="4974336"/>
            <a:ext cx="67665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0A5"/>
                </a:solidFill>
                <a:latin typeface="Cascadia Code"/>
              </a:rPr>
              <a:t>npm install -g </a:t>
            </a:r>
            <a:r>
              <a:rPr sz="1400" b="1">
                <a:solidFill>
                  <a:srgbClr val="FF7A1A"/>
                </a:solidFill>
                <a:latin typeface="Cascadia Code"/>
              </a:rPr>
              <a:t>byakugan-macgpt</a:t>
            </a:r>
            <a:r>
              <a:rPr sz="1400" b="0">
                <a:solidFill>
                  <a:srgbClr val="5A6076"/>
                </a:solidFill>
                <a:latin typeface="Cascadia Code"/>
              </a:rPr>
              <a:t>   then   </a:t>
            </a:r>
            <a:r>
              <a:rPr sz="1400" b="1">
                <a:solidFill>
                  <a:srgbClr val="E6E8F0"/>
                </a:solidFill>
                <a:latin typeface="Cascadia Code"/>
              </a:rPr>
              <a:t>byakugan analyze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6935" y="499262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076"/>
                </a:solidFill>
                <a:latin typeface="Cascadia Code"/>
              </a:rPr>
              <a:t>MIT licensed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6072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100" b="0" dirty="0">
                <a:solidFill>
                  <a:srgbClr val="5A6076"/>
                </a:solidFill>
                <a:latin typeface="Cascadia Code"/>
              </a:rPr>
              <a:t>IBM Bob 2.0 Hackathon   ·   48 hours   ·   </a:t>
            </a:r>
            <a:r>
              <a:rPr lang="en-US" sz="1100" dirty="0">
                <a:solidFill>
                  <a:srgbClr val="5A6076"/>
                </a:solidFill>
                <a:latin typeface="Cascadia Code"/>
              </a:rPr>
              <a:t>https://byakugan-frontend.onrender.com/</a:t>
            </a:r>
            <a:endParaRPr sz="1100" b="0" dirty="0">
              <a:solidFill>
                <a:srgbClr val="5A6076"/>
              </a:solidFill>
              <a:latin typeface="Cascadia 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2816</Words>
  <Application>Microsoft Office PowerPoint</Application>
  <PresentationFormat>Widescreen</PresentationFormat>
  <Paragraphs>299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Cascadia Code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ENOW BRENDA</cp:lastModifiedBy>
  <cp:revision>4</cp:revision>
  <dcterms:created xsi:type="dcterms:W3CDTF">2013-01-27T09:14:16Z</dcterms:created>
  <dcterms:modified xsi:type="dcterms:W3CDTF">2026-09-27T12:40:12Z</dcterms:modified>
  <cp:category/>
</cp:coreProperties>
</file>